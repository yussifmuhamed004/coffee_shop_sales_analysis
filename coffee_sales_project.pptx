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342E"/>
    <a:srgbClr val="F7F1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0" y="78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523FA-7023-4E59-B8FB-618159760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2922CC-7913-4EC7-A691-EA085937F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F9E6E-97AE-4954-8DA9-048BCE0A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A890-9D97-4477-A1FE-80C7AB2A9084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9F272-46BC-407A-A4FD-6044400D8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1EF48-AEA5-4AC1-B954-D034E50B8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E162-8007-432B-B4D5-F275C4F263FE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83863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F7CB1-C39A-4A9D-AB09-554A942F2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5F6A2-BCD6-4A15-B11E-3157485FF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556F7-13AF-4A38-B1AA-E91327A32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A890-9D97-4477-A1FE-80C7AB2A9084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ECB5D-2821-4F8A-A575-386271168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01088-EFBC-4DD3-99AA-17839B3DA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E162-8007-432B-B4D5-F275C4F263FE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6880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FBB8D-6600-4E0D-AC5E-7D61EF88A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6C5A4-0401-42F1-98D3-CE1A7FB80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B12D0-3191-4ECB-9560-63C6C3B08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A890-9D97-4477-A1FE-80C7AB2A9084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9E5B1-3536-443B-858E-AE1BCE85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1EB2E-9A39-4BA6-9D3B-D42253C10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E162-8007-432B-B4D5-F275C4F263FE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33277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D5712-579D-41B2-AC12-7C41FDB41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24E27-2A0B-4F87-A17C-D605BD591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4FDDB-B9E6-4F1F-A3E8-2DB54311B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97748-3A13-4FEF-95FC-1DAFFB9C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A890-9D97-4477-A1FE-80C7AB2A9084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608F3-3F8F-4648-BF1A-84CD6A84B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8634F-630F-4049-8DA6-8660EAEC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E162-8007-432B-B4D5-F275C4F263FE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375820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3D6B5-3415-4429-993E-42AB7F11D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D4CBC-D95E-4A9A-A256-D3C5C3252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D9AEE-9ED0-4F34-A7A4-4248E7409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D76648-D1C0-4001-A24E-51825B3067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79F67D-D1F4-4473-818A-1F9CA728DD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6C455B-41D4-48C9-88FD-2AB8E74E8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A890-9D97-4477-A1FE-80C7AB2A9084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3BF0F9-24F8-4731-9F4B-55FACA52A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BC0A5-D6CE-4550-A6C3-07E57CCBB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E162-8007-432B-B4D5-F275C4F263FE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33132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70FAD-975F-42A7-8BAC-5E718CDA8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9F8D0-628D-48E2-A66F-28AD12F56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A890-9D97-4477-A1FE-80C7AB2A9084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A606A9-786D-49A3-9DAC-BA395D5BE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19C17E-504A-4043-9AC7-040079D4C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E162-8007-432B-B4D5-F275C4F263FE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04094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F8E135-E8B6-46E6-AAEB-C52BE8AD3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A890-9D97-4477-A1FE-80C7AB2A9084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C15B14-B9EB-433C-9EB2-06B9F684A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35EB4-8FB5-4A3B-8E8A-FC15D1EA0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E162-8007-432B-B4D5-F275C4F263FE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60708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E2659-C138-4341-A96C-5E02013EE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563DF-5078-4D77-89B9-68F1625CE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8272C-40C8-45F3-9A28-D24FE4494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CA712-D97E-456F-8BD2-C00C0EDA5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A890-9D97-4477-A1FE-80C7AB2A9084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654E2-07D2-43A1-B266-BB99806CA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DD033-13AD-4E94-B9AC-1FFDE8959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E162-8007-432B-B4D5-F275C4F263FE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1627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5736D-3BA7-413C-86A0-5DC1E8FE5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27DAEF-A71B-4958-950B-5386ED3CB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54252-0335-48B7-A493-2F556443B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93C03-4FC9-4EF4-8280-E0F081D7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A890-9D97-4477-A1FE-80C7AB2A9084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1FB1D-6E52-4D30-BBFF-1FF438173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5EFCA-BBF2-4C02-AFFE-5F6695C1E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E162-8007-432B-B4D5-F275C4F263FE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759202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26160-BA7F-48A0-869E-AC919478A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99C0D1-12AB-4E3D-8293-1E567DA80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17340-A507-42BC-BD56-22356B66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A890-9D97-4477-A1FE-80C7AB2A9084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20FD2-7A92-4B87-A1CD-76BE41A8F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29DEA-0D7D-4BB4-9D0B-EC7899379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E162-8007-432B-B4D5-F275C4F263FE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8263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8F6E9C-39C5-4A68-A7DA-1CF9DFD1AA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C1877F-43F9-48CE-B62C-E0ED22FFF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81C4F-90AF-4085-A63A-9D4C988DF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A890-9D97-4477-A1FE-80C7AB2A9084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C0DED-76F8-4838-8D71-AA95DE45B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EA0CC-E765-448F-9C50-1296DAD7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E162-8007-432B-B4D5-F275C4F263FE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5721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13E7C5-7810-413F-AA7B-A37B5682B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96268-D99E-40F6-8DCF-2917EA41C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09DA8-65E8-42F0-9E13-F1B04B7A47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FA890-9D97-4477-A1FE-80C7AB2A9084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33177-CBE9-45F6-8C5F-95F7DC3A3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D06A4-687F-4F26-BF86-A6939E80BE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FE162-8007-432B-B4D5-F275C4F263FE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75388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A4AF27-40AA-47C5-9EDF-207A668E81EA}"/>
              </a:ext>
            </a:extLst>
          </p:cNvPr>
          <p:cNvSpPr/>
          <p:nvPr/>
        </p:nvSpPr>
        <p:spPr>
          <a:xfrm>
            <a:off x="0" y="0"/>
            <a:ext cx="1941341" cy="685800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5E5BC3-3D56-4DC0-8C18-8BC6AC596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759" y="13447"/>
            <a:ext cx="5683149" cy="6858000"/>
          </a:xfrm>
          <a:prstGeom prst="rect">
            <a:avLst/>
          </a:prstGeom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CE0186E-BD16-4E94-BAEA-5386DD8F910C}"/>
              </a:ext>
            </a:extLst>
          </p:cNvPr>
          <p:cNvGrpSpPr/>
          <p:nvPr/>
        </p:nvGrpSpPr>
        <p:grpSpPr>
          <a:xfrm>
            <a:off x="309485" y="2312063"/>
            <a:ext cx="1322366" cy="2180492"/>
            <a:chOff x="309485" y="1505243"/>
            <a:chExt cx="1322366" cy="2180492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6DF8E8CB-AAD6-4A6F-BE87-59D929F3E595}"/>
                </a:ext>
              </a:extLst>
            </p:cNvPr>
            <p:cNvSpPr/>
            <p:nvPr/>
          </p:nvSpPr>
          <p:spPr>
            <a:xfrm>
              <a:off x="309488" y="1505243"/>
              <a:ext cx="1322363" cy="450166"/>
            </a:xfrm>
            <a:prstGeom prst="roundRect">
              <a:avLst>
                <a:gd name="adj" fmla="val 41667"/>
              </a:avLst>
            </a:prstGeom>
            <a:solidFill>
              <a:srgbClr val="F7F1E8"/>
            </a:solidFill>
            <a:ln>
              <a:solidFill>
                <a:srgbClr val="4E34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376EAEA-58A3-4646-A1C8-8350ADE3BB8E}"/>
                </a:ext>
              </a:extLst>
            </p:cNvPr>
            <p:cNvSpPr/>
            <p:nvPr/>
          </p:nvSpPr>
          <p:spPr>
            <a:xfrm>
              <a:off x="309487" y="2085535"/>
              <a:ext cx="1322363" cy="450166"/>
            </a:xfrm>
            <a:prstGeom prst="roundRect">
              <a:avLst>
                <a:gd name="adj" fmla="val 41667"/>
              </a:avLst>
            </a:prstGeom>
            <a:solidFill>
              <a:srgbClr val="F7F1E8"/>
            </a:solidFill>
            <a:ln>
              <a:solidFill>
                <a:srgbClr val="4E34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AFB561F0-854A-4594-BD8D-F7BFE9EE6579}"/>
                </a:ext>
              </a:extLst>
            </p:cNvPr>
            <p:cNvSpPr/>
            <p:nvPr/>
          </p:nvSpPr>
          <p:spPr>
            <a:xfrm>
              <a:off x="309486" y="2665827"/>
              <a:ext cx="1322363" cy="450166"/>
            </a:xfrm>
            <a:prstGeom prst="roundRect">
              <a:avLst>
                <a:gd name="adj" fmla="val 41667"/>
              </a:avLst>
            </a:prstGeom>
            <a:solidFill>
              <a:srgbClr val="F7F1E8"/>
            </a:solidFill>
            <a:ln>
              <a:solidFill>
                <a:srgbClr val="4E34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F412A30-1F95-4A5E-9102-B1CDDCB3EA5B}"/>
                </a:ext>
              </a:extLst>
            </p:cNvPr>
            <p:cNvSpPr/>
            <p:nvPr/>
          </p:nvSpPr>
          <p:spPr>
            <a:xfrm>
              <a:off x="309485" y="3235569"/>
              <a:ext cx="1322363" cy="450166"/>
            </a:xfrm>
            <a:prstGeom prst="roundRect">
              <a:avLst>
                <a:gd name="adj" fmla="val 41667"/>
              </a:avLst>
            </a:prstGeom>
            <a:solidFill>
              <a:srgbClr val="F7F1E8"/>
            </a:solidFill>
            <a:ln>
              <a:solidFill>
                <a:srgbClr val="4E34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7" name="Parallelogram 6">
            <a:extLst>
              <a:ext uri="{FF2B5EF4-FFF2-40B4-BE49-F238E27FC236}">
                <a16:creationId xmlns:a16="http://schemas.microsoft.com/office/drawing/2014/main" id="{7320B042-D502-4624-9AB1-B3C83C5A32E8}"/>
              </a:ext>
            </a:extLst>
          </p:cNvPr>
          <p:cNvSpPr/>
          <p:nvPr/>
        </p:nvSpPr>
        <p:spPr>
          <a:xfrm>
            <a:off x="6257219" y="0"/>
            <a:ext cx="7077781" cy="6858000"/>
          </a:xfrm>
          <a:prstGeom prst="parallelogram">
            <a:avLst>
              <a:gd name="adj" fmla="val 16625"/>
            </a:avLst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6BB579-070B-4501-9DAC-577DDD5A8A2E}"/>
              </a:ext>
            </a:extLst>
          </p:cNvPr>
          <p:cNvSpPr txBox="1"/>
          <p:nvPr/>
        </p:nvSpPr>
        <p:spPr>
          <a:xfrm>
            <a:off x="7067551" y="2448909"/>
            <a:ext cx="512445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Bahnschrift" panose="020B0502040204020203" pitchFamily="34" charset="0"/>
              </a:rPr>
              <a:t>Coffee Shop Dashboard</a:t>
            </a:r>
            <a:endParaRPr lang="ar-EG" sz="36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C8619A-604D-467B-B2DB-1238FAD8160E}"/>
              </a:ext>
            </a:extLst>
          </p:cNvPr>
          <p:cNvSpPr txBox="1"/>
          <p:nvPr/>
        </p:nvSpPr>
        <p:spPr>
          <a:xfrm>
            <a:off x="205134" y="6317623"/>
            <a:ext cx="132236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Bahnschrift" panose="020B0502040204020203" pitchFamily="34" charset="0"/>
              </a:rPr>
              <a:t>Created by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  <a:latin typeface="Bahnschrift" panose="020B0502040204020203" pitchFamily="34" charset="0"/>
              </a:rPr>
              <a:t>Yussif</a:t>
            </a:r>
            <a:r>
              <a:rPr lang="en-US" sz="10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Bahnschrift" panose="020B0502040204020203" pitchFamily="34" charset="0"/>
              </a:rPr>
              <a:t>Muhamed</a:t>
            </a:r>
            <a:endParaRPr lang="ar-EG" sz="1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947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A4AF27-40AA-47C5-9EDF-207A668E81EA}"/>
              </a:ext>
            </a:extLst>
          </p:cNvPr>
          <p:cNvSpPr/>
          <p:nvPr/>
        </p:nvSpPr>
        <p:spPr>
          <a:xfrm>
            <a:off x="0" y="0"/>
            <a:ext cx="1941341" cy="6858000"/>
          </a:xfrm>
          <a:prstGeom prst="rect">
            <a:avLst/>
          </a:prstGeom>
          <a:solidFill>
            <a:srgbClr val="4E34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C3D8363-6502-4684-82F1-AFCA200C285B}"/>
              </a:ext>
            </a:extLst>
          </p:cNvPr>
          <p:cNvSpPr/>
          <p:nvPr/>
        </p:nvSpPr>
        <p:spPr>
          <a:xfrm>
            <a:off x="3798275" y="182880"/>
            <a:ext cx="6513342" cy="450166"/>
          </a:xfrm>
          <a:prstGeom prst="roundRect">
            <a:avLst>
              <a:gd name="adj" fmla="val 19792"/>
            </a:avLst>
          </a:prstGeom>
          <a:solidFill>
            <a:srgbClr val="4E342E"/>
          </a:solidFill>
          <a:ln>
            <a:solidFill>
              <a:srgbClr val="F7F1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506E348-E0E3-49DA-A949-38D8A688AE93}"/>
              </a:ext>
            </a:extLst>
          </p:cNvPr>
          <p:cNvGrpSpPr/>
          <p:nvPr/>
        </p:nvGrpSpPr>
        <p:grpSpPr>
          <a:xfrm>
            <a:off x="2771330" y="897983"/>
            <a:ext cx="8560190" cy="930818"/>
            <a:chOff x="3221502" y="897983"/>
            <a:chExt cx="8560190" cy="93081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2DB7091-362B-4479-BDFA-E8A0563DA80C}"/>
                </a:ext>
              </a:extLst>
            </p:cNvPr>
            <p:cNvSpPr/>
            <p:nvPr/>
          </p:nvSpPr>
          <p:spPr>
            <a:xfrm>
              <a:off x="3221502" y="928468"/>
              <a:ext cx="1941341" cy="900333"/>
            </a:xfrm>
            <a:prstGeom prst="roundRect">
              <a:avLst>
                <a:gd name="adj" fmla="val 33855"/>
              </a:avLst>
            </a:prstGeom>
            <a:solidFill>
              <a:srgbClr val="4E342E"/>
            </a:solidFill>
            <a:ln>
              <a:solidFill>
                <a:srgbClr val="F7F1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C084E01-2C1B-4FA3-90BB-9F074A705CAE}"/>
                </a:ext>
              </a:extLst>
            </p:cNvPr>
            <p:cNvSpPr/>
            <p:nvPr/>
          </p:nvSpPr>
          <p:spPr>
            <a:xfrm>
              <a:off x="5427785" y="928467"/>
              <a:ext cx="1941341" cy="900333"/>
            </a:xfrm>
            <a:prstGeom prst="roundRect">
              <a:avLst>
                <a:gd name="adj" fmla="val 33855"/>
              </a:avLst>
            </a:prstGeom>
            <a:solidFill>
              <a:srgbClr val="4E342E"/>
            </a:solidFill>
            <a:ln>
              <a:solidFill>
                <a:srgbClr val="F7F1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ECBDB53-B514-4299-8DD5-021240D4053C}"/>
                </a:ext>
              </a:extLst>
            </p:cNvPr>
            <p:cNvSpPr/>
            <p:nvPr/>
          </p:nvSpPr>
          <p:spPr>
            <a:xfrm>
              <a:off x="7634068" y="897984"/>
              <a:ext cx="1941341" cy="900333"/>
            </a:xfrm>
            <a:prstGeom prst="roundRect">
              <a:avLst>
                <a:gd name="adj" fmla="val 33855"/>
              </a:avLst>
            </a:prstGeom>
            <a:solidFill>
              <a:srgbClr val="4E342E"/>
            </a:solidFill>
            <a:ln>
              <a:solidFill>
                <a:srgbClr val="F7F1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600A5E9-53A6-40FE-9817-FA02F2DD8DBD}"/>
                </a:ext>
              </a:extLst>
            </p:cNvPr>
            <p:cNvSpPr/>
            <p:nvPr/>
          </p:nvSpPr>
          <p:spPr>
            <a:xfrm>
              <a:off x="9840351" y="897983"/>
              <a:ext cx="1941341" cy="900333"/>
            </a:xfrm>
            <a:prstGeom prst="roundRect">
              <a:avLst>
                <a:gd name="adj" fmla="val 33855"/>
              </a:avLst>
            </a:prstGeom>
            <a:solidFill>
              <a:srgbClr val="4E342E"/>
            </a:solidFill>
            <a:ln>
              <a:solidFill>
                <a:srgbClr val="F7F1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F12651C-350F-4F8D-AE19-E15B1B322CB5}"/>
              </a:ext>
            </a:extLst>
          </p:cNvPr>
          <p:cNvSpPr/>
          <p:nvPr/>
        </p:nvSpPr>
        <p:spPr>
          <a:xfrm>
            <a:off x="2771330" y="2363372"/>
            <a:ext cx="4147624" cy="4311748"/>
          </a:xfrm>
          <a:prstGeom prst="roundRect">
            <a:avLst/>
          </a:prstGeom>
          <a:solidFill>
            <a:srgbClr val="4E342E"/>
          </a:solidFill>
          <a:ln>
            <a:solidFill>
              <a:srgbClr val="F7F1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2F9F5DC-F544-4142-B610-95975D7F01E9}"/>
              </a:ext>
            </a:extLst>
          </p:cNvPr>
          <p:cNvSpPr/>
          <p:nvPr/>
        </p:nvSpPr>
        <p:spPr>
          <a:xfrm>
            <a:off x="7183896" y="2310618"/>
            <a:ext cx="4147624" cy="2208628"/>
          </a:xfrm>
          <a:prstGeom prst="roundRect">
            <a:avLst/>
          </a:prstGeom>
          <a:solidFill>
            <a:srgbClr val="4E342E"/>
          </a:solidFill>
          <a:ln>
            <a:solidFill>
              <a:srgbClr val="F7F1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92237E-07DF-4F71-AE27-6FFB4B6C543F}"/>
              </a:ext>
            </a:extLst>
          </p:cNvPr>
          <p:cNvSpPr/>
          <p:nvPr/>
        </p:nvSpPr>
        <p:spPr>
          <a:xfrm>
            <a:off x="7183896" y="4712677"/>
            <a:ext cx="4147624" cy="1962443"/>
          </a:xfrm>
          <a:prstGeom prst="roundRect">
            <a:avLst/>
          </a:prstGeom>
          <a:solidFill>
            <a:srgbClr val="4E342E"/>
          </a:solidFill>
          <a:ln>
            <a:solidFill>
              <a:srgbClr val="F7F1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F00FB56-2A95-4B29-B221-4FF25B0AB99E}"/>
              </a:ext>
            </a:extLst>
          </p:cNvPr>
          <p:cNvGrpSpPr/>
          <p:nvPr/>
        </p:nvGrpSpPr>
        <p:grpSpPr>
          <a:xfrm>
            <a:off x="309485" y="2312063"/>
            <a:ext cx="1322366" cy="2180492"/>
            <a:chOff x="309485" y="1505243"/>
            <a:chExt cx="1322366" cy="2180492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432142B-9297-40FD-84CB-0BACD6B89C2F}"/>
                </a:ext>
              </a:extLst>
            </p:cNvPr>
            <p:cNvSpPr/>
            <p:nvPr/>
          </p:nvSpPr>
          <p:spPr>
            <a:xfrm>
              <a:off x="309488" y="1505243"/>
              <a:ext cx="1322363" cy="450166"/>
            </a:xfrm>
            <a:prstGeom prst="roundRect">
              <a:avLst>
                <a:gd name="adj" fmla="val 41667"/>
              </a:avLst>
            </a:prstGeom>
            <a:solidFill>
              <a:srgbClr val="F7F1E8"/>
            </a:solidFill>
            <a:ln>
              <a:solidFill>
                <a:srgbClr val="4E34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675DBD6F-3BCA-4BF7-A53B-4DA6555BEC5D}"/>
                </a:ext>
              </a:extLst>
            </p:cNvPr>
            <p:cNvSpPr/>
            <p:nvPr/>
          </p:nvSpPr>
          <p:spPr>
            <a:xfrm>
              <a:off x="309487" y="2085535"/>
              <a:ext cx="1322363" cy="450166"/>
            </a:xfrm>
            <a:prstGeom prst="roundRect">
              <a:avLst>
                <a:gd name="adj" fmla="val 41667"/>
              </a:avLst>
            </a:prstGeom>
            <a:solidFill>
              <a:srgbClr val="F7F1E8"/>
            </a:solidFill>
            <a:ln>
              <a:solidFill>
                <a:srgbClr val="4E34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37FA59F1-42F4-44D7-8A32-FB8CA8F814BD}"/>
                </a:ext>
              </a:extLst>
            </p:cNvPr>
            <p:cNvSpPr/>
            <p:nvPr/>
          </p:nvSpPr>
          <p:spPr>
            <a:xfrm>
              <a:off x="309486" y="2665827"/>
              <a:ext cx="1322363" cy="450166"/>
            </a:xfrm>
            <a:prstGeom prst="roundRect">
              <a:avLst>
                <a:gd name="adj" fmla="val 41667"/>
              </a:avLst>
            </a:prstGeom>
            <a:solidFill>
              <a:srgbClr val="F7F1E8"/>
            </a:solidFill>
            <a:ln>
              <a:solidFill>
                <a:srgbClr val="4E34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8A0F912B-A722-4C7D-87C2-391A0C90EFE9}"/>
                </a:ext>
              </a:extLst>
            </p:cNvPr>
            <p:cNvSpPr/>
            <p:nvPr/>
          </p:nvSpPr>
          <p:spPr>
            <a:xfrm>
              <a:off x="309485" y="3235569"/>
              <a:ext cx="1322363" cy="450166"/>
            </a:xfrm>
            <a:prstGeom prst="roundRect">
              <a:avLst>
                <a:gd name="adj" fmla="val 41667"/>
              </a:avLst>
            </a:prstGeom>
            <a:solidFill>
              <a:srgbClr val="F7F1E8"/>
            </a:solidFill>
            <a:ln>
              <a:solidFill>
                <a:srgbClr val="4E34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3574755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A4AF27-40AA-47C5-9EDF-207A668E81EA}"/>
              </a:ext>
            </a:extLst>
          </p:cNvPr>
          <p:cNvSpPr/>
          <p:nvPr/>
        </p:nvSpPr>
        <p:spPr>
          <a:xfrm>
            <a:off x="0" y="0"/>
            <a:ext cx="1941341" cy="6858000"/>
          </a:xfrm>
          <a:prstGeom prst="rect">
            <a:avLst/>
          </a:prstGeom>
          <a:solidFill>
            <a:srgbClr val="4E34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6F54463-437D-483A-BB66-5FDA5435C18C}"/>
              </a:ext>
            </a:extLst>
          </p:cNvPr>
          <p:cNvSpPr/>
          <p:nvPr/>
        </p:nvSpPr>
        <p:spPr>
          <a:xfrm>
            <a:off x="2250825" y="803616"/>
            <a:ext cx="4754885" cy="3177541"/>
          </a:xfrm>
          <a:prstGeom prst="roundRect">
            <a:avLst>
              <a:gd name="adj" fmla="val 24636"/>
            </a:avLst>
          </a:prstGeom>
          <a:solidFill>
            <a:srgbClr val="4E342E"/>
          </a:solidFill>
          <a:ln>
            <a:solidFill>
              <a:srgbClr val="F7F1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4D3001-3657-4265-9B68-A78CD4CDA115}"/>
              </a:ext>
            </a:extLst>
          </p:cNvPr>
          <p:cNvSpPr/>
          <p:nvPr/>
        </p:nvSpPr>
        <p:spPr>
          <a:xfrm>
            <a:off x="3798275" y="182880"/>
            <a:ext cx="6513342" cy="450166"/>
          </a:xfrm>
          <a:prstGeom prst="roundRect">
            <a:avLst>
              <a:gd name="adj" fmla="val 19792"/>
            </a:avLst>
          </a:prstGeom>
          <a:solidFill>
            <a:srgbClr val="4E342E"/>
          </a:solidFill>
          <a:ln>
            <a:solidFill>
              <a:srgbClr val="F7F1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31E1615-04CE-4440-953F-603194BDC911}"/>
              </a:ext>
            </a:extLst>
          </p:cNvPr>
          <p:cNvSpPr/>
          <p:nvPr/>
        </p:nvSpPr>
        <p:spPr>
          <a:xfrm>
            <a:off x="7502768" y="803616"/>
            <a:ext cx="4368017" cy="450166"/>
          </a:xfrm>
          <a:prstGeom prst="roundRect">
            <a:avLst>
              <a:gd name="adj" fmla="val 35417"/>
            </a:avLst>
          </a:prstGeom>
          <a:solidFill>
            <a:srgbClr val="4E342E"/>
          </a:solidFill>
          <a:ln>
            <a:solidFill>
              <a:srgbClr val="F7F1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6655B01-61B8-43AF-8C66-C5DAA4460042}"/>
              </a:ext>
            </a:extLst>
          </p:cNvPr>
          <p:cNvGrpSpPr/>
          <p:nvPr/>
        </p:nvGrpSpPr>
        <p:grpSpPr>
          <a:xfrm>
            <a:off x="7590693" y="1462161"/>
            <a:ext cx="4192166" cy="930225"/>
            <a:chOff x="2771330" y="928468"/>
            <a:chExt cx="4192166" cy="93022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1E99A92-1AFF-41CE-BEFD-2D78059ECD8C}"/>
                </a:ext>
              </a:extLst>
            </p:cNvPr>
            <p:cNvSpPr/>
            <p:nvPr/>
          </p:nvSpPr>
          <p:spPr>
            <a:xfrm>
              <a:off x="2771330" y="928468"/>
              <a:ext cx="1941341" cy="900333"/>
            </a:xfrm>
            <a:prstGeom prst="roundRect">
              <a:avLst>
                <a:gd name="adj" fmla="val 33855"/>
              </a:avLst>
            </a:prstGeom>
            <a:solidFill>
              <a:srgbClr val="4E342E"/>
            </a:solidFill>
            <a:ln>
              <a:solidFill>
                <a:srgbClr val="F7F1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DF03A1C-C82A-4646-9849-0DDC3AD88265}"/>
                </a:ext>
              </a:extLst>
            </p:cNvPr>
            <p:cNvSpPr/>
            <p:nvPr/>
          </p:nvSpPr>
          <p:spPr>
            <a:xfrm>
              <a:off x="5022155" y="958360"/>
              <a:ext cx="1941341" cy="900333"/>
            </a:xfrm>
            <a:prstGeom prst="roundRect">
              <a:avLst>
                <a:gd name="adj" fmla="val 33855"/>
              </a:avLst>
            </a:prstGeom>
            <a:solidFill>
              <a:srgbClr val="4E342E"/>
            </a:solidFill>
            <a:ln>
              <a:solidFill>
                <a:srgbClr val="F7F1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C268DD8-6596-4B95-A2A3-FEA46551DF3D}"/>
              </a:ext>
            </a:extLst>
          </p:cNvPr>
          <p:cNvSpPr/>
          <p:nvPr/>
        </p:nvSpPr>
        <p:spPr>
          <a:xfrm>
            <a:off x="7309333" y="2675499"/>
            <a:ext cx="4573181" cy="3880046"/>
          </a:xfrm>
          <a:prstGeom prst="roundRect">
            <a:avLst/>
          </a:prstGeom>
          <a:solidFill>
            <a:srgbClr val="4E342E"/>
          </a:solidFill>
          <a:ln>
            <a:solidFill>
              <a:srgbClr val="F7F1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ED61E2F-0D89-4821-8C1C-EC51979BB59D}"/>
              </a:ext>
            </a:extLst>
          </p:cNvPr>
          <p:cNvSpPr/>
          <p:nvPr/>
        </p:nvSpPr>
        <p:spPr>
          <a:xfrm>
            <a:off x="2250824" y="4241408"/>
            <a:ext cx="4754885" cy="2314137"/>
          </a:xfrm>
          <a:prstGeom prst="roundRect">
            <a:avLst>
              <a:gd name="adj" fmla="val 9980"/>
            </a:avLst>
          </a:prstGeom>
          <a:solidFill>
            <a:srgbClr val="4E342E"/>
          </a:solidFill>
          <a:ln>
            <a:solidFill>
              <a:srgbClr val="F7F1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50E9BF-5247-48A0-B28E-5BA483C76051}"/>
              </a:ext>
            </a:extLst>
          </p:cNvPr>
          <p:cNvGrpSpPr/>
          <p:nvPr/>
        </p:nvGrpSpPr>
        <p:grpSpPr>
          <a:xfrm>
            <a:off x="309485" y="2312063"/>
            <a:ext cx="1322366" cy="2180492"/>
            <a:chOff x="309485" y="1505243"/>
            <a:chExt cx="1322366" cy="2180492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BC0FFFA2-1034-484C-B762-B4E6F352C53F}"/>
                </a:ext>
              </a:extLst>
            </p:cNvPr>
            <p:cNvSpPr/>
            <p:nvPr/>
          </p:nvSpPr>
          <p:spPr>
            <a:xfrm>
              <a:off x="309488" y="1505243"/>
              <a:ext cx="1322363" cy="450166"/>
            </a:xfrm>
            <a:prstGeom prst="roundRect">
              <a:avLst>
                <a:gd name="adj" fmla="val 41667"/>
              </a:avLst>
            </a:prstGeom>
            <a:solidFill>
              <a:srgbClr val="F7F1E8"/>
            </a:solidFill>
            <a:ln>
              <a:solidFill>
                <a:srgbClr val="4E34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C32AABA-E2A7-48D5-8CFE-588DA37B7E54}"/>
                </a:ext>
              </a:extLst>
            </p:cNvPr>
            <p:cNvSpPr/>
            <p:nvPr/>
          </p:nvSpPr>
          <p:spPr>
            <a:xfrm>
              <a:off x="309487" y="2085535"/>
              <a:ext cx="1322363" cy="450166"/>
            </a:xfrm>
            <a:prstGeom prst="roundRect">
              <a:avLst>
                <a:gd name="adj" fmla="val 41667"/>
              </a:avLst>
            </a:prstGeom>
            <a:solidFill>
              <a:srgbClr val="F7F1E8"/>
            </a:solidFill>
            <a:ln>
              <a:solidFill>
                <a:srgbClr val="4E34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37E002F-7D7D-460F-B69A-502739EDB067}"/>
                </a:ext>
              </a:extLst>
            </p:cNvPr>
            <p:cNvSpPr/>
            <p:nvPr/>
          </p:nvSpPr>
          <p:spPr>
            <a:xfrm>
              <a:off x="309486" y="2665827"/>
              <a:ext cx="1322363" cy="450166"/>
            </a:xfrm>
            <a:prstGeom prst="roundRect">
              <a:avLst>
                <a:gd name="adj" fmla="val 41667"/>
              </a:avLst>
            </a:prstGeom>
            <a:solidFill>
              <a:srgbClr val="F7F1E8"/>
            </a:solidFill>
            <a:ln>
              <a:solidFill>
                <a:srgbClr val="4E34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ECC99F7-E7E1-408E-9FBF-5506D5B90959}"/>
                </a:ext>
              </a:extLst>
            </p:cNvPr>
            <p:cNvSpPr/>
            <p:nvPr/>
          </p:nvSpPr>
          <p:spPr>
            <a:xfrm>
              <a:off x="309485" y="3235569"/>
              <a:ext cx="1322363" cy="450166"/>
            </a:xfrm>
            <a:prstGeom prst="roundRect">
              <a:avLst>
                <a:gd name="adj" fmla="val 41667"/>
              </a:avLst>
            </a:prstGeom>
            <a:solidFill>
              <a:srgbClr val="F7F1E8"/>
            </a:solidFill>
            <a:ln>
              <a:solidFill>
                <a:srgbClr val="4E34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3770120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A4AF27-40AA-47C5-9EDF-207A668E81EA}"/>
              </a:ext>
            </a:extLst>
          </p:cNvPr>
          <p:cNvSpPr/>
          <p:nvPr/>
        </p:nvSpPr>
        <p:spPr>
          <a:xfrm>
            <a:off x="0" y="0"/>
            <a:ext cx="1941341" cy="6858000"/>
          </a:xfrm>
          <a:prstGeom prst="rect">
            <a:avLst/>
          </a:prstGeom>
          <a:solidFill>
            <a:srgbClr val="4E34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12C9135-3E4F-4590-B114-049C44735960}"/>
              </a:ext>
            </a:extLst>
          </p:cNvPr>
          <p:cNvSpPr/>
          <p:nvPr/>
        </p:nvSpPr>
        <p:spPr>
          <a:xfrm>
            <a:off x="3798275" y="182880"/>
            <a:ext cx="6513342" cy="450166"/>
          </a:xfrm>
          <a:prstGeom prst="roundRect">
            <a:avLst>
              <a:gd name="adj" fmla="val 19792"/>
            </a:avLst>
          </a:prstGeom>
          <a:solidFill>
            <a:srgbClr val="4E342E"/>
          </a:solidFill>
          <a:ln>
            <a:solidFill>
              <a:srgbClr val="F7F1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370C63F-7F5F-473B-B4F1-CA5CCAED4315}"/>
              </a:ext>
            </a:extLst>
          </p:cNvPr>
          <p:cNvSpPr/>
          <p:nvPr/>
        </p:nvSpPr>
        <p:spPr>
          <a:xfrm>
            <a:off x="6654263" y="1382152"/>
            <a:ext cx="5443784" cy="5292968"/>
          </a:xfrm>
          <a:prstGeom prst="roundRect">
            <a:avLst>
              <a:gd name="adj" fmla="val 15455"/>
            </a:avLst>
          </a:prstGeom>
          <a:solidFill>
            <a:srgbClr val="4E342E"/>
          </a:solidFill>
          <a:ln>
            <a:solidFill>
              <a:srgbClr val="F7F1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0E5C691-A9B6-4F7A-B98D-D7162FFD9128}"/>
              </a:ext>
            </a:extLst>
          </p:cNvPr>
          <p:cNvSpPr/>
          <p:nvPr/>
        </p:nvSpPr>
        <p:spPr>
          <a:xfrm>
            <a:off x="7462982" y="782516"/>
            <a:ext cx="3826345" cy="450166"/>
          </a:xfrm>
          <a:prstGeom prst="roundRect">
            <a:avLst>
              <a:gd name="adj" fmla="val 50000"/>
            </a:avLst>
          </a:prstGeom>
          <a:solidFill>
            <a:srgbClr val="4E342E"/>
          </a:solidFill>
          <a:ln>
            <a:solidFill>
              <a:srgbClr val="F7F1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2015B22-CE04-4C8B-A1C5-D9E1392179EF}"/>
              </a:ext>
            </a:extLst>
          </p:cNvPr>
          <p:cNvGrpSpPr/>
          <p:nvPr/>
        </p:nvGrpSpPr>
        <p:grpSpPr>
          <a:xfrm>
            <a:off x="2189332" y="841819"/>
            <a:ext cx="4192166" cy="930225"/>
            <a:chOff x="2771330" y="928468"/>
            <a:chExt cx="4192166" cy="930225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C341E54-2E11-4313-A089-A4209FE0331C}"/>
                </a:ext>
              </a:extLst>
            </p:cNvPr>
            <p:cNvSpPr/>
            <p:nvPr/>
          </p:nvSpPr>
          <p:spPr>
            <a:xfrm>
              <a:off x="2771330" y="928468"/>
              <a:ext cx="1941341" cy="900333"/>
            </a:xfrm>
            <a:prstGeom prst="roundRect">
              <a:avLst>
                <a:gd name="adj" fmla="val 33855"/>
              </a:avLst>
            </a:prstGeom>
            <a:solidFill>
              <a:srgbClr val="4E342E"/>
            </a:solidFill>
            <a:ln>
              <a:solidFill>
                <a:srgbClr val="F7F1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93102DE-F6CF-4DB7-B3F6-A1E36AFAD57B}"/>
                </a:ext>
              </a:extLst>
            </p:cNvPr>
            <p:cNvSpPr/>
            <p:nvPr/>
          </p:nvSpPr>
          <p:spPr>
            <a:xfrm>
              <a:off x="5022155" y="958360"/>
              <a:ext cx="1941341" cy="900333"/>
            </a:xfrm>
            <a:prstGeom prst="roundRect">
              <a:avLst>
                <a:gd name="adj" fmla="val 33855"/>
              </a:avLst>
            </a:prstGeom>
            <a:solidFill>
              <a:srgbClr val="4E342E"/>
            </a:solidFill>
            <a:ln>
              <a:solidFill>
                <a:srgbClr val="F7F1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491B200-4932-4C63-9FEC-B3F8593F4401}"/>
              </a:ext>
            </a:extLst>
          </p:cNvPr>
          <p:cNvSpPr/>
          <p:nvPr/>
        </p:nvSpPr>
        <p:spPr>
          <a:xfrm>
            <a:off x="2155659" y="1950926"/>
            <a:ext cx="4284286" cy="3135032"/>
          </a:xfrm>
          <a:prstGeom prst="roundRect">
            <a:avLst>
              <a:gd name="adj" fmla="val 13800"/>
            </a:avLst>
          </a:prstGeom>
          <a:solidFill>
            <a:srgbClr val="4E342E"/>
          </a:solidFill>
          <a:ln>
            <a:solidFill>
              <a:srgbClr val="F7F1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67C894C-19DD-42FD-92EC-6A709FD98F0B}"/>
              </a:ext>
            </a:extLst>
          </p:cNvPr>
          <p:cNvSpPr/>
          <p:nvPr/>
        </p:nvSpPr>
        <p:spPr>
          <a:xfrm>
            <a:off x="2189332" y="5294733"/>
            <a:ext cx="4192166" cy="1380388"/>
          </a:xfrm>
          <a:prstGeom prst="roundRect">
            <a:avLst>
              <a:gd name="adj" fmla="val 13800"/>
            </a:avLst>
          </a:prstGeom>
          <a:solidFill>
            <a:srgbClr val="4E342E"/>
          </a:solidFill>
          <a:ln>
            <a:solidFill>
              <a:srgbClr val="F7F1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A38A958-18EE-47F8-900D-FFC897FF05CD}"/>
              </a:ext>
            </a:extLst>
          </p:cNvPr>
          <p:cNvGrpSpPr/>
          <p:nvPr/>
        </p:nvGrpSpPr>
        <p:grpSpPr>
          <a:xfrm>
            <a:off x="309485" y="2312063"/>
            <a:ext cx="1322366" cy="2180492"/>
            <a:chOff x="309485" y="1505243"/>
            <a:chExt cx="1322366" cy="2180492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44CFAADC-D4A6-49D8-B03B-BE23C92D755D}"/>
                </a:ext>
              </a:extLst>
            </p:cNvPr>
            <p:cNvSpPr/>
            <p:nvPr/>
          </p:nvSpPr>
          <p:spPr>
            <a:xfrm>
              <a:off x="309488" y="1505243"/>
              <a:ext cx="1322363" cy="450166"/>
            </a:xfrm>
            <a:prstGeom prst="roundRect">
              <a:avLst>
                <a:gd name="adj" fmla="val 41667"/>
              </a:avLst>
            </a:prstGeom>
            <a:solidFill>
              <a:srgbClr val="F7F1E8"/>
            </a:solidFill>
            <a:ln>
              <a:solidFill>
                <a:srgbClr val="4E34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F9318DC-AD39-48FE-9F6D-BEF5DB1B718C}"/>
                </a:ext>
              </a:extLst>
            </p:cNvPr>
            <p:cNvSpPr/>
            <p:nvPr/>
          </p:nvSpPr>
          <p:spPr>
            <a:xfrm>
              <a:off x="309487" y="2085535"/>
              <a:ext cx="1322363" cy="450166"/>
            </a:xfrm>
            <a:prstGeom prst="roundRect">
              <a:avLst>
                <a:gd name="adj" fmla="val 41667"/>
              </a:avLst>
            </a:prstGeom>
            <a:solidFill>
              <a:srgbClr val="F7F1E8"/>
            </a:solidFill>
            <a:ln>
              <a:solidFill>
                <a:srgbClr val="4E34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A58A9AFB-EFC6-439D-B663-71481200309B}"/>
                </a:ext>
              </a:extLst>
            </p:cNvPr>
            <p:cNvSpPr/>
            <p:nvPr/>
          </p:nvSpPr>
          <p:spPr>
            <a:xfrm>
              <a:off x="309486" y="2665827"/>
              <a:ext cx="1322363" cy="450166"/>
            </a:xfrm>
            <a:prstGeom prst="roundRect">
              <a:avLst>
                <a:gd name="adj" fmla="val 41667"/>
              </a:avLst>
            </a:prstGeom>
            <a:solidFill>
              <a:srgbClr val="F7F1E8"/>
            </a:solidFill>
            <a:ln>
              <a:solidFill>
                <a:srgbClr val="4E34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4CB162F-37D8-4290-AB73-3BC5ACEF7462}"/>
                </a:ext>
              </a:extLst>
            </p:cNvPr>
            <p:cNvSpPr/>
            <p:nvPr/>
          </p:nvSpPr>
          <p:spPr>
            <a:xfrm>
              <a:off x="309485" y="3235569"/>
              <a:ext cx="1322363" cy="450166"/>
            </a:xfrm>
            <a:prstGeom prst="roundRect">
              <a:avLst>
                <a:gd name="adj" fmla="val 41667"/>
              </a:avLst>
            </a:prstGeom>
            <a:solidFill>
              <a:srgbClr val="F7F1E8"/>
            </a:solidFill>
            <a:ln>
              <a:solidFill>
                <a:srgbClr val="4E34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1922525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A4AF27-40AA-47C5-9EDF-207A668E81EA}"/>
              </a:ext>
            </a:extLst>
          </p:cNvPr>
          <p:cNvSpPr/>
          <p:nvPr/>
        </p:nvSpPr>
        <p:spPr>
          <a:xfrm>
            <a:off x="0" y="0"/>
            <a:ext cx="1941341" cy="6858000"/>
          </a:xfrm>
          <a:prstGeom prst="rect">
            <a:avLst/>
          </a:prstGeom>
          <a:solidFill>
            <a:srgbClr val="4E34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12C9135-3E4F-4590-B114-049C44735960}"/>
              </a:ext>
            </a:extLst>
          </p:cNvPr>
          <p:cNvSpPr/>
          <p:nvPr/>
        </p:nvSpPr>
        <p:spPr>
          <a:xfrm>
            <a:off x="6529296" y="60059"/>
            <a:ext cx="5392864" cy="726498"/>
          </a:xfrm>
          <a:prstGeom prst="roundRect">
            <a:avLst>
              <a:gd name="adj" fmla="val 17941"/>
            </a:avLst>
          </a:prstGeom>
          <a:solidFill>
            <a:srgbClr val="4E342E"/>
          </a:solidFill>
          <a:ln>
            <a:solidFill>
              <a:srgbClr val="F7F1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A38A958-18EE-47F8-900D-FFC897FF05CD}"/>
              </a:ext>
            </a:extLst>
          </p:cNvPr>
          <p:cNvGrpSpPr/>
          <p:nvPr/>
        </p:nvGrpSpPr>
        <p:grpSpPr>
          <a:xfrm>
            <a:off x="309485" y="2312063"/>
            <a:ext cx="1322366" cy="2180492"/>
            <a:chOff x="309485" y="1505243"/>
            <a:chExt cx="1322366" cy="2180492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44CFAADC-D4A6-49D8-B03B-BE23C92D755D}"/>
                </a:ext>
              </a:extLst>
            </p:cNvPr>
            <p:cNvSpPr/>
            <p:nvPr/>
          </p:nvSpPr>
          <p:spPr>
            <a:xfrm>
              <a:off x="309488" y="1505243"/>
              <a:ext cx="1322363" cy="450166"/>
            </a:xfrm>
            <a:prstGeom prst="roundRect">
              <a:avLst>
                <a:gd name="adj" fmla="val 41667"/>
              </a:avLst>
            </a:prstGeom>
            <a:solidFill>
              <a:srgbClr val="F7F1E8"/>
            </a:solidFill>
            <a:ln>
              <a:solidFill>
                <a:srgbClr val="4E34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F9318DC-AD39-48FE-9F6D-BEF5DB1B718C}"/>
                </a:ext>
              </a:extLst>
            </p:cNvPr>
            <p:cNvSpPr/>
            <p:nvPr/>
          </p:nvSpPr>
          <p:spPr>
            <a:xfrm>
              <a:off x="309487" y="2085535"/>
              <a:ext cx="1322363" cy="450166"/>
            </a:xfrm>
            <a:prstGeom prst="roundRect">
              <a:avLst>
                <a:gd name="adj" fmla="val 41667"/>
              </a:avLst>
            </a:prstGeom>
            <a:solidFill>
              <a:srgbClr val="F7F1E8"/>
            </a:solidFill>
            <a:ln>
              <a:solidFill>
                <a:srgbClr val="4E34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A58A9AFB-EFC6-439D-B663-71481200309B}"/>
                </a:ext>
              </a:extLst>
            </p:cNvPr>
            <p:cNvSpPr/>
            <p:nvPr/>
          </p:nvSpPr>
          <p:spPr>
            <a:xfrm>
              <a:off x="309486" y="2665827"/>
              <a:ext cx="1322363" cy="450166"/>
            </a:xfrm>
            <a:prstGeom prst="roundRect">
              <a:avLst>
                <a:gd name="adj" fmla="val 41667"/>
              </a:avLst>
            </a:prstGeom>
            <a:solidFill>
              <a:srgbClr val="F7F1E8"/>
            </a:solidFill>
            <a:ln>
              <a:solidFill>
                <a:srgbClr val="4E34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4CB162F-37D8-4290-AB73-3BC5ACEF7462}"/>
                </a:ext>
              </a:extLst>
            </p:cNvPr>
            <p:cNvSpPr/>
            <p:nvPr/>
          </p:nvSpPr>
          <p:spPr>
            <a:xfrm>
              <a:off x="309485" y="3235569"/>
              <a:ext cx="1322363" cy="450166"/>
            </a:xfrm>
            <a:prstGeom prst="roundRect">
              <a:avLst>
                <a:gd name="adj" fmla="val 41667"/>
              </a:avLst>
            </a:prstGeom>
            <a:solidFill>
              <a:srgbClr val="F7F1E8"/>
            </a:solidFill>
            <a:ln>
              <a:solidFill>
                <a:srgbClr val="4E34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5A5F6E8-6551-4882-B74C-6037144DF8E4}"/>
              </a:ext>
            </a:extLst>
          </p:cNvPr>
          <p:cNvSpPr/>
          <p:nvPr/>
        </p:nvSpPr>
        <p:spPr>
          <a:xfrm>
            <a:off x="2250827" y="859716"/>
            <a:ext cx="4679169" cy="2918908"/>
          </a:xfrm>
          <a:prstGeom prst="roundRect">
            <a:avLst>
              <a:gd name="adj" fmla="val 13318"/>
            </a:avLst>
          </a:prstGeom>
          <a:solidFill>
            <a:srgbClr val="4E342E"/>
          </a:solidFill>
          <a:ln>
            <a:solidFill>
              <a:srgbClr val="F7F1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2EAC9C9-D991-4570-AC43-1684AB3458E0}"/>
              </a:ext>
            </a:extLst>
          </p:cNvPr>
          <p:cNvSpPr/>
          <p:nvPr/>
        </p:nvSpPr>
        <p:spPr>
          <a:xfrm>
            <a:off x="7203343" y="859716"/>
            <a:ext cx="4679169" cy="2918908"/>
          </a:xfrm>
          <a:prstGeom prst="roundRect">
            <a:avLst>
              <a:gd name="adj" fmla="val 13318"/>
            </a:avLst>
          </a:prstGeom>
          <a:solidFill>
            <a:srgbClr val="4E342E"/>
          </a:solidFill>
          <a:ln>
            <a:solidFill>
              <a:srgbClr val="F7F1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459DEE-E85B-4901-9B1F-EE96D02049C3}"/>
              </a:ext>
            </a:extLst>
          </p:cNvPr>
          <p:cNvSpPr/>
          <p:nvPr/>
        </p:nvSpPr>
        <p:spPr>
          <a:xfrm>
            <a:off x="2250827" y="4005294"/>
            <a:ext cx="4679169" cy="2612458"/>
          </a:xfrm>
          <a:prstGeom prst="roundRect">
            <a:avLst>
              <a:gd name="adj" fmla="val 13318"/>
            </a:avLst>
          </a:prstGeom>
          <a:solidFill>
            <a:srgbClr val="4E342E"/>
          </a:solidFill>
          <a:ln>
            <a:solidFill>
              <a:srgbClr val="F7F1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4CFA802-A0EE-4FCF-927B-C774E1632403}"/>
              </a:ext>
            </a:extLst>
          </p:cNvPr>
          <p:cNvSpPr/>
          <p:nvPr/>
        </p:nvSpPr>
        <p:spPr>
          <a:xfrm>
            <a:off x="7203343" y="4005294"/>
            <a:ext cx="4679169" cy="2612458"/>
          </a:xfrm>
          <a:prstGeom prst="roundRect">
            <a:avLst>
              <a:gd name="adj" fmla="val 13318"/>
            </a:avLst>
          </a:prstGeom>
          <a:solidFill>
            <a:srgbClr val="4E342E"/>
          </a:solidFill>
          <a:ln>
            <a:solidFill>
              <a:srgbClr val="F7F1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8EF79E5-C117-4B6A-B0FD-005ED0587AEE}"/>
              </a:ext>
            </a:extLst>
          </p:cNvPr>
          <p:cNvGrpSpPr/>
          <p:nvPr/>
        </p:nvGrpSpPr>
        <p:grpSpPr>
          <a:xfrm>
            <a:off x="2032524" y="39070"/>
            <a:ext cx="751018" cy="726499"/>
            <a:chOff x="2883875" y="-54684"/>
            <a:chExt cx="833749" cy="822263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26B1D98-8C20-48EA-866F-C71ED316F7C0}"/>
                </a:ext>
              </a:extLst>
            </p:cNvPr>
            <p:cNvSpPr/>
            <p:nvPr/>
          </p:nvSpPr>
          <p:spPr>
            <a:xfrm>
              <a:off x="2883875" y="-54684"/>
              <a:ext cx="833749" cy="822263"/>
            </a:xfrm>
            <a:prstGeom prst="ellipse">
              <a:avLst/>
            </a:prstGeom>
            <a:solidFill>
              <a:srgbClr val="4E34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pic>
          <p:nvPicPr>
            <p:cNvPr id="27" name="Graphic 26" descr="Lightbulb and gear">
              <a:extLst>
                <a:ext uri="{FF2B5EF4-FFF2-40B4-BE49-F238E27FC236}">
                  <a16:creationId xmlns:a16="http://schemas.microsoft.com/office/drawing/2014/main" id="{06235919-C723-4C15-BCFC-E0243C96D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74175" y="33890"/>
              <a:ext cx="653148" cy="653148"/>
            </a:xfrm>
            <a:prstGeom prst="rect">
              <a:avLst/>
            </a:prstGeom>
          </p:spPr>
        </p:pic>
      </p:grpSp>
      <p:pic>
        <p:nvPicPr>
          <p:cNvPr id="29" name="Graphic 28" descr="Bullseye">
            <a:extLst>
              <a:ext uri="{FF2B5EF4-FFF2-40B4-BE49-F238E27FC236}">
                <a16:creationId xmlns:a16="http://schemas.microsoft.com/office/drawing/2014/main" id="{85866357-AEBC-4BA3-A6F0-BDE2B08AE8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0435" y="58485"/>
            <a:ext cx="694765" cy="694765"/>
          </a:xfrm>
          <a:prstGeom prst="rect">
            <a:avLst/>
          </a:prstGeom>
        </p:spPr>
      </p:pic>
      <p:pic>
        <p:nvPicPr>
          <p:cNvPr id="31" name="Graphic 30" descr="Checkmark">
            <a:extLst>
              <a:ext uri="{FF2B5EF4-FFF2-40B4-BE49-F238E27FC236}">
                <a16:creationId xmlns:a16="http://schemas.microsoft.com/office/drawing/2014/main" id="{DB297B49-9CD6-4CCA-8EC6-C2635C20D7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83655" y="3116055"/>
            <a:ext cx="347887" cy="347887"/>
          </a:xfrm>
          <a:prstGeom prst="rect">
            <a:avLst/>
          </a:prstGeom>
        </p:spPr>
      </p:pic>
      <p:pic>
        <p:nvPicPr>
          <p:cNvPr id="33" name="Graphic 32" descr="Bar graph with upward trend">
            <a:extLst>
              <a:ext uri="{FF2B5EF4-FFF2-40B4-BE49-F238E27FC236}">
                <a16:creationId xmlns:a16="http://schemas.microsoft.com/office/drawing/2014/main" id="{88300A21-D3EB-4173-9013-3226A27F8B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57268" y="1754837"/>
            <a:ext cx="436617" cy="436617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8AFD7C3C-3F28-4532-9948-FF68C2C92C85}"/>
              </a:ext>
            </a:extLst>
          </p:cNvPr>
          <p:cNvGrpSpPr/>
          <p:nvPr/>
        </p:nvGrpSpPr>
        <p:grpSpPr>
          <a:xfrm>
            <a:off x="2522270" y="4075852"/>
            <a:ext cx="562116" cy="507560"/>
            <a:chOff x="2615978" y="4206187"/>
            <a:chExt cx="752794" cy="76742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2AF2E16-39B4-4E6A-A390-75E0406D2CF9}"/>
                </a:ext>
              </a:extLst>
            </p:cNvPr>
            <p:cNvSpPr/>
            <p:nvPr/>
          </p:nvSpPr>
          <p:spPr>
            <a:xfrm>
              <a:off x="2615978" y="4235824"/>
              <a:ext cx="752794" cy="7377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pic>
          <p:nvPicPr>
            <p:cNvPr id="6" name="Graphic 5" descr="User">
              <a:extLst>
                <a:ext uri="{FF2B5EF4-FFF2-40B4-BE49-F238E27FC236}">
                  <a16:creationId xmlns:a16="http://schemas.microsoft.com/office/drawing/2014/main" id="{4F9E62BE-BAE6-4F56-9749-8E8934919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626792" y="4206187"/>
              <a:ext cx="727765" cy="727765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6451F36-7910-4157-8F0E-FED0E65CCD1A}"/>
              </a:ext>
            </a:extLst>
          </p:cNvPr>
          <p:cNvGrpSpPr/>
          <p:nvPr/>
        </p:nvGrpSpPr>
        <p:grpSpPr>
          <a:xfrm>
            <a:off x="2499676" y="946002"/>
            <a:ext cx="683286" cy="608178"/>
            <a:chOff x="2489875" y="962538"/>
            <a:chExt cx="752794" cy="661225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784AD08-62C4-44B3-8AE0-06F3BF35EA86}"/>
                </a:ext>
              </a:extLst>
            </p:cNvPr>
            <p:cNvSpPr/>
            <p:nvPr/>
          </p:nvSpPr>
          <p:spPr>
            <a:xfrm>
              <a:off x="2489875" y="962538"/>
              <a:ext cx="752794" cy="661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pic>
          <p:nvPicPr>
            <p:cNvPr id="38" name="Graphic 37" descr="Money">
              <a:extLst>
                <a:ext uri="{FF2B5EF4-FFF2-40B4-BE49-F238E27FC236}">
                  <a16:creationId xmlns:a16="http://schemas.microsoft.com/office/drawing/2014/main" id="{03FDDAFE-96E6-44B7-96FE-2D3271868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579974" y="1005741"/>
              <a:ext cx="560155" cy="560155"/>
            </a:xfrm>
            <a:prstGeom prst="rect">
              <a:avLst/>
            </a:prstGeom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D9EDAA21-16B0-4881-9E12-F5DD6A366193}"/>
              </a:ext>
            </a:extLst>
          </p:cNvPr>
          <p:cNvSpPr txBox="1"/>
          <p:nvPr/>
        </p:nvSpPr>
        <p:spPr>
          <a:xfrm>
            <a:off x="2819118" y="35682"/>
            <a:ext cx="3616776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>
                <a:solidFill>
                  <a:srgbClr val="4E342E"/>
                </a:solidFill>
                <a:latin typeface="Noto Serif Armenian" pitchFamily="2" charset="0"/>
              </a:rPr>
              <a:t>Key Insights</a:t>
            </a:r>
          </a:p>
          <a:p>
            <a:r>
              <a:rPr lang="en-US" sz="1200" dirty="0">
                <a:solidFill>
                  <a:srgbClr val="4E342E"/>
                </a:solidFill>
                <a:latin typeface="Noto Serif Armenian" pitchFamily="2" charset="0"/>
              </a:rPr>
              <a:t>Turning data into better decisions</a:t>
            </a:r>
            <a:endParaRPr lang="ar-EG" sz="1200" dirty="0">
              <a:solidFill>
                <a:srgbClr val="4E342E"/>
              </a:solidFill>
              <a:latin typeface="Noto Serif Armenian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DD1CBF4-3984-4930-97FD-71E897EAC56D}"/>
              </a:ext>
            </a:extLst>
          </p:cNvPr>
          <p:cNvSpPr txBox="1"/>
          <p:nvPr/>
        </p:nvSpPr>
        <p:spPr>
          <a:xfrm>
            <a:off x="7337609" y="76168"/>
            <a:ext cx="467569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Project Goal</a:t>
            </a:r>
          </a:p>
          <a:p>
            <a:r>
              <a:rPr lang="en-US" sz="1200" dirty="0">
                <a:solidFill>
                  <a:schemeClr val="bg1"/>
                </a:solidFill>
              </a:rPr>
              <a:t>Understand sales performance , customer behavior and product trends to drive growth and improve profitability</a:t>
            </a:r>
            <a:endParaRPr lang="ar-EG" sz="1200" dirty="0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91BBEA-2111-4612-B883-D4D09E7CF6C4}"/>
              </a:ext>
            </a:extLst>
          </p:cNvPr>
          <p:cNvSpPr txBox="1"/>
          <p:nvPr/>
        </p:nvSpPr>
        <p:spPr>
          <a:xfrm>
            <a:off x="2901348" y="1455482"/>
            <a:ext cx="3951033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Result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sz="1200" dirty="0">
                <a:solidFill>
                  <a:schemeClr val="bg1"/>
                </a:solidFill>
              </a:rPr>
              <a:t>Drinking chocolate is the top category contributing ~ </a:t>
            </a:r>
            <a:r>
              <a:rPr lang="en-US" sz="1200" dirty="0">
                <a:solidFill>
                  <a:schemeClr val="bg1"/>
                </a:solidFill>
                <a:highlight>
                  <a:srgbClr val="FF0000"/>
                </a:highlight>
              </a:rPr>
              <a:t>44.41%</a:t>
            </a:r>
            <a:r>
              <a:rPr lang="en-US" sz="1200" dirty="0">
                <a:solidFill>
                  <a:schemeClr val="bg1"/>
                </a:solidFill>
              </a:rPr>
              <a:t> of total revenue ($ 6.34K)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Meaning:</a:t>
            </a:r>
          </a:p>
          <a:p>
            <a:r>
              <a:rPr lang="en-US" sz="1200" dirty="0">
                <a:solidFill>
                  <a:schemeClr val="bg1"/>
                </a:solidFill>
                <a:highlight>
                  <a:srgbClr val="FF0000"/>
                </a:highlight>
              </a:rPr>
              <a:t>Drinking chocolate </a:t>
            </a:r>
            <a:r>
              <a:rPr lang="en-US" sz="1200" dirty="0">
                <a:solidFill>
                  <a:schemeClr val="bg1"/>
                </a:solidFill>
              </a:rPr>
              <a:t>is the main revenue driver , so  it’s critical to maintain stock levels and keep it promoted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Recommendation:</a:t>
            </a:r>
          </a:p>
          <a:p>
            <a:r>
              <a:rPr lang="en-US" sz="1200" dirty="0">
                <a:solidFill>
                  <a:schemeClr val="bg1"/>
                </a:solidFill>
              </a:rPr>
              <a:t>Focus on marketing coffee product and ensure consistent availability, especially at peak times.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4001A5-E109-4084-AB4E-47EDAFEC9DA9}"/>
              </a:ext>
            </a:extLst>
          </p:cNvPr>
          <p:cNvSpPr txBox="1"/>
          <p:nvPr/>
        </p:nvSpPr>
        <p:spPr>
          <a:xfrm>
            <a:off x="3331067" y="1070015"/>
            <a:ext cx="3415553" cy="5539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Revenue Driver</a:t>
            </a:r>
          </a:p>
          <a:p>
            <a:r>
              <a:rPr lang="en-US" sz="1200" dirty="0">
                <a:solidFill>
                  <a:schemeClr val="bg1"/>
                </a:solidFill>
              </a:rPr>
              <a:t>Which category generates the highest revenue?</a:t>
            </a:r>
            <a:endParaRPr lang="ar-EG" sz="1200" dirty="0">
              <a:solidFill>
                <a:schemeClr val="bg1"/>
              </a:solidFill>
            </a:endParaRPr>
          </a:p>
        </p:txBody>
      </p:sp>
      <p:pic>
        <p:nvPicPr>
          <p:cNvPr id="51" name="Graphic 50" descr="Lightbulb and gear">
            <a:extLst>
              <a:ext uri="{FF2B5EF4-FFF2-40B4-BE49-F238E27FC236}">
                <a16:creationId xmlns:a16="http://schemas.microsoft.com/office/drawing/2014/main" id="{A4DC8ECC-92AC-41CD-85A5-13CCB832E5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90888" y="2321172"/>
            <a:ext cx="510460" cy="500692"/>
          </a:xfrm>
          <a:prstGeom prst="rect">
            <a:avLst/>
          </a:prstGeom>
        </p:spPr>
      </p:pic>
      <p:pic>
        <p:nvPicPr>
          <p:cNvPr id="37" name="Graphic 36" descr="Checkmark">
            <a:extLst>
              <a:ext uri="{FF2B5EF4-FFF2-40B4-BE49-F238E27FC236}">
                <a16:creationId xmlns:a16="http://schemas.microsoft.com/office/drawing/2014/main" id="{A1952F99-2106-4D8C-A40F-645C7EAE4B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74509" y="3091560"/>
            <a:ext cx="347887" cy="347887"/>
          </a:xfrm>
          <a:prstGeom prst="rect">
            <a:avLst/>
          </a:prstGeom>
        </p:spPr>
      </p:pic>
      <p:pic>
        <p:nvPicPr>
          <p:cNvPr id="48" name="Graphic 47" descr="Bar graph with upward trend">
            <a:extLst>
              <a:ext uri="{FF2B5EF4-FFF2-40B4-BE49-F238E27FC236}">
                <a16:creationId xmlns:a16="http://schemas.microsoft.com/office/drawing/2014/main" id="{109EE1D3-0DA5-4862-94A8-3A16316BEA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48122" y="1730342"/>
            <a:ext cx="436617" cy="436617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02135FB7-D6A8-4E03-A596-638B9E85F4F6}"/>
              </a:ext>
            </a:extLst>
          </p:cNvPr>
          <p:cNvSpPr/>
          <p:nvPr/>
        </p:nvSpPr>
        <p:spPr>
          <a:xfrm>
            <a:off x="7490530" y="940557"/>
            <a:ext cx="605720" cy="5539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B305EDC-364D-4F3E-8DFD-750A9D5C4337}"/>
              </a:ext>
            </a:extLst>
          </p:cNvPr>
          <p:cNvSpPr txBox="1"/>
          <p:nvPr/>
        </p:nvSpPr>
        <p:spPr>
          <a:xfrm>
            <a:off x="7892202" y="1430987"/>
            <a:ext cx="3951033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Result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sz="1200" dirty="0">
                <a:solidFill>
                  <a:schemeClr val="bg1"/>
                </a:solidFill>
                <a:highlight>
                  <a:srgbClr val="FF0000"/>
                </a:highlight>
              </a:rPr>
              <a:t>Long island branch </a:t>
            </a:r>
            <a:r>
              <a:rPr lang="en-US" sz="1200" dirty="0">
                <a:solidFill>
                  <a:schemeClr val="bg1"/>
                </a:solidFill>
              </a:rPr>
              <a:t>generated the highest sales </a:t>
            </a:r>
          </a:p>
          <a:p>
            <a:r>
              <a:rPr lang="en-US" sz="1200" dirty="0">
                <a:solidFill>
                  <a:schemeClr val="bg1"/>
                </a:solidFill>
              </a:rPr>
              <a:t>($ 35.4K),accounting for </a:t>
            </a:r>
            <a:r>
              <a:rPr lang="en-US" sz="1200" dirty="0">
                <a:solidFill>
                  <a:schemeClr val="bg1"/>
                </a:solidFill>
                <a:highlight>
                  <a:srgbClr val="FF0000"/>
                </a:highlight>
              </a:rPr>
              <a:t>35% </a:t>
            </a:r>
            <a:r>
              <a:rPr lang="en-US" sz="1200" dirty="0">
                <a:solidFill>
                  <a:schemeClr val="bg1"/>
                </a:solidFill>
              </a:rPr>
              <a:t>of total sales.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Meaning:</a:t>
            </a:r>
          </a:p>
          <a:p>
            <a:r>
              <a:rPr lang="en-US" sz="1200" dirty="0">
                <a:solidFill>
                  <a:schemeClr val="bg1"/>
                </a:solidFill>
              </a:rPr>
              <a:t>The long island branch is strongest location and has the highest customer demand.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Recommendation:</a:t>
            </a:r>
          </a:p>
          <a:p>
            <a:r>
              <a:rPr lang="en-US" sz="1200" dirty="0">
                <a:solidFill>
                  <a:schemeClr val="bg1"/>
                </a:solidFill>
              </a:rPr>
              <a:t>Analyze what makes </a:t>
            </a:r>
            <a:r>
              <a:rPr lang="en-US" sz="1200" dirty="0" err="1">
                <a:solidFill>
                  <a:schemeClr val="bg1"/>
                </a:solidFill>
              </a:rPr>
              <a:t>longisland</a:t>
            </a:r>
            <a:r>
              <a:rPr lang="en-US" sz="1200" dirty="0">
                <a:solidFill>
                  <a:schemeClr val="bg1"/>
                </a:solidFill>
              </a:rPr>
              <a:t> branch successful and apply similar strategies to other branches.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86D7B6-D7CB-467B-9CA0-C08E6E0DB3B0}"/>
              </a:ext>
            </a:extLst>
          </p:cNvPr>
          <p:cNvSpPr txBox="1"/>
          <p:nvPr/>
        </p:nvSpPr>
        <p:spPr>
          <a:xfrm>
            <a:off x="8321921" y="1045520"/>
            <a:ext cx="3415553" cy="5539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Best Performing Branch</a:t>
            </a:r>
          </a:p>
          <a:p>
            <a:r>
              <a:rPr lang="en-US" sz="1200" dirty="0">
                <a:solidFill>
                  <a:schemeClr val="bg1"/>
                </a:solidFill>
              </a:rPr>
              <a:t>Which branch has the highest sales?</a:t>
            </a:r>
            <a:endParaRPr lang="ar-EG" sz="1200" dirty="0">
              <a:solidFill>
                <a:schemeClr val="bg1"/>
              </a:solidFill>
            </a:endParaRPr>
          </a:p>
        </p:txBody>
      </p:sp>
      <p:pic>
        <p:nvPicPr>
          <p:cNvPr id="57" name="Graphic 56" descr="Lightbulb and gear">
            <a:extLst>
              <a:ext uri="{FF2B5EF4-FFF2-40B4-BE49-F238E27FC236}">
                <a16:creationId xmlns:a16="http://schemas.microsoft.com/office/drawing/2014/main" id="{B8F6DA06-9F9E-445E-B7A4-E912B60BF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1742" y="2296677"/>
            <a:ext cx="510460" cy="500692"/>
          </a:xfrm>
          <a:prstGeom prst="rect">
            <a:avLst/>
          </a:prstGeom>
        </p:spPr>
      </p:pic>
      <p:pic>
        <p:nvPicPr>
          <p:cNvPr id="7" name="Graphic 6" descr="Branching diagram">
            <a:extLst>
              <a:ext uri="{FF2B5EF4-FFF2-40B4-BE49-F238E27FC236}">
                <a16:creationId xmlns:a16="http://schemas.microsoft.com/office/drawing/2014/main" id="{F629E19B-3433-4BFB-B843-3879F6298B6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5400000">
            <a:off x="7502670" y="965052"/>
            <a:ext cx="510459" cy="510459"/>
          </a:xfrm>
          <a:prstGeom prst="rect">
            <a:avLst/>
          </a:prstGeom>
        </p:spPr>
      </p:pic>
      <p:pic>
        <p:nvPicPr>
          <p:cNvPr id="58" name="Graphic 57" descr="Checkmark">
            <a:extLst>
              <a:ext uri="{FF2B5EF4-FFF2-40B4-BE49-F238E27FC236}">
                <a16:creationId xmlns:a16="http://schemas.microsoft.com/office/drawing/2014/main" id="{5B05D846-8C9C-4510-8947-0A029B3F80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33842" y="6090590"/>
            <a:ext cx="347887" cy="347887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5B68DB03-457F-4C64-B567-90BA82E4B7D7}"/>
              </a:ext>
            </a:extLst>
          </p:cNvPr>
          <p:cNvSpPr txBox="1"/>
          <p:nvPr/>
        </p:nvSpPr>
        <p:spPr>
          <a:xfrm>
            <a:off x="3044515" y="4348887"/>
            <a:ext cx="3951033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Result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sz="1200" dirty="0">
                <a:solidFill>
                  <a:schemeClr val="bg1"/>
                </a:solidFill>
                <a:highlight>
                  <a:srgbClr val="FF0000"/>
                </a:highlight>
              </a:rPr>
              <a:t>Females </a:t>
            </a:r>
            <a:r>
              <a:rPr lang="en-US" sz="1200" dirty="0">
                <a:solidFill>
                  <a:schemeClr val="bg1"/>
                </a:solidFill>
              </a:rPr>
              <a:t>account for </a:t>
            </a:r>
            <a:r>
              <a:rPr lang="en-US" sz="1200" dirty="0">
                <a:solidFill>
                  <a:schemeClr val="bg1"/>
                </a:solidFill>
                <a:highlight>
                  <a:srgbClr val="FF0000"/>
                </a:highlight>
              </a:rPr>
              <a:t>44%</a:t>
            </a:r>
            <a:r>
              <a:rPr lang="en-US" sz="1200" dirty="0">
                <a:solidFill>
                  <a:schemeClr val="bg1"/>
                </a:solidFill>
              </a:rPr>
              <a:t> of total customers and have the highest average order value </a:t>
            </a:r>
            <a:r>
              <a:rPr lang="en-US" sz="1200" dirty="0">
                <a:solidFill>
                  <a:schemeClr val="bg1"/>
                </a:solidFill>
                <a:highlight>
                  <a:srgbClr val="FF0000"/>
                </a:highlight>
              </a:rPr>
              <a:t>($4.62)</a:t>
            </a:r>
            <a:endParaRPr lang="en-US" sz="1200" dirty="0">
              <a:solidFill>
                <a:schemeClr val="bg1"/>
              </a:solidFill>
            </a:endParaRP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Meaning:</a:t>
            </a:r>
          </a:p>
          <a:p>
            <a:r>
              <a:rPr lang="en-US" sz="1200" dirty="0">
                <a:solidFill>
                  <a:schemeClr val="bg1"/>
                </a:solidFill>
              </a:rPr>
              <a:t>Females are the most valuable segment, both in number and spending power.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Recommendation:</a:t>
            </a:r>
          </a:p>
          <a:p>
            <a:r>
              <a:rPr lang="en-US" sz="1200" dirty="0">
                <a:solidFill>
                  <a:schemeClr val="bg1"/>
                </a:solidFill>
              </a:rPr>
              <a:t>Create targeted offers and loyalty programs for female customers.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4B5154-7BF8-4CFF-806B-55A5F04DDBF4}"/>
              </a:ext>
            </a:extLst>
          </p:cNvPr>
          <p:cNvSpPr txBox="1"/>
          <p:nvPr/>
        </p:nvSpPr>
        <p:spPr>
          <a:xfrm>
            <a:off x="3353484" y="3935727"/>
            <a:ext cx="3415553" cy="5539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Customer Behavior</a:t>
            </a:r>
          </a:p>
          <a:p>
            <a:r>
              <a:rPr lang="en-US" sz="1200" dirty="0">
                <a:solidFill>
                  <a:schemeClr val="bg1"/>
                </a:solidFill>
              </a:rPr>
              <a:t>Which customer segment spend the most?</a:t>
            </a:r>
            <a:endParaRPr lang="ar-EG" sz="1200" dirty="0">
              <a:solidFill>
                <a:schemeClr val="bg1"/>
              </a:solidFill>
            </a:endParaRPr>
          </a:p>
        </p:txBody>
      </p:sp>
      <p:pic>
        <p:nvPicPr>
          <p:cNvPr id="61" name="Graphic 60" descr="Lightbulb and gear">
            <a:extLst>
              <a:ext uri="{FF2B5EF4-FFF2-40B4-BE49-F238E27FC236}">
                <a16:creationId xmlns:a16="http://schemas.microsoft.com/office/drawing/2014/main" id="{13D617CC-CACE-4A72-ADC0-3DCB2F5D8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41075" y="5295707"/>
            <a:ext cx="510460" cy="500692"/>
          </a:xfrm>
          <a:prstGeom prst="rect">
            <a:avLst/>
          </a:prstGeom>
        </p:spPr>
      </p:pic>
      <p:pic>
        <p:nvPicPr>
          <p:cNvPr id="70" name="Graphic 69" descr="Checkmark">
            <a:extLst>
              <a:ext uri="{FF2B5EF4-FFF2-40B4-BE49-F238E27FC236}">
                <a16:creationId xmlns:a16="http://schemas.microsoft.com/office/drawing/2014/main" id="{D91B71BF-AABB-4471-9C8E-B573B165B8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74509" y="6034063"/>
            <a:ext cx="347887" cy="347887"/>
          </a:xfrm>
          <a:prstGeom prst="rect">
            <a:avLst/>
          </a:prstGeom>
        </p:spPr>
      </p:pic>
      <p:pic>
        <p:nvPicPr>
          <p:cNvPr id="71" name="Graphic 70" descr="Bar graph with upward trend">
            <a:extLst>
              <a:ext uri="{FF2B5EF4-FFF2-40B4-BE49-F238E27FC236}">
                <a16:creationId xmlns:a16="http://schemas.microsoft.com/office/drawing/2014/main" id="{C3EE1AF7-23C0-48BA-B893-703CE8E918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31156" y="4605526"/>
            <a:ext cx="436617" cy="436617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545B8D40-685B-4B53-B0AD-B61A44CFF092}"/>
              </a:ext>
            </a:extLst>
          </p:cNvPr>
          <p:cNvSpPr txBox="1"/>
          <p:nvPr/>
        </p:nvSpPr>
        <p:spPr>
          <a:xfrm>
            <a:off x="7908445" y="4477888"/>
            <a:ext cx="3951033" cy="218521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Result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sz="1200" dirty="0">
                <a:solidFill>
                  <a:schemeClr val="bg1"/>
                </a:solidFill>
              </a:rPr>
              <a:t>Loose tea have the lowest sales</a:t>
            </a:r>
            <a:r>
              <a:rPr lang="en-US" sz="1200" dirty="0">
                <a:solidFill>
                  <a:schemeClr val="bg1"/>
                </a:solidFill>
                <a:highlight>
                  <a:srgbClr val="FF0000"/>
                </a:highlight>
              </a:rPr>
              <a:t> 2%</a:t>
            </a:r>
          </a:p>
          <a:p>
            <a:endParaRPr lang="en-US" sz="1200" dirty="0">
              <a:solidFill>
                <a:schemeClr val="bg1"/>
              </a:solidFill>
              <a:highlight>
                <a:srgbClr val="FF0000"/>
              </a:highlight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Meaning:</a:t>
            </a:r>
          </a:p>
          <a:p>
            <a:r>
              <a:rPr lang="en-US" sz="1400" dirty="0">
                <a:solidFill>
                  <a:schemeClr val="bg1"/>
                </a:solidFill>
              </a:rPr>
              <a:t>Loose tea are underperforming now, but the growing trend shows potential for higher sales.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Recommendation:</a:t>
            </a:r>
          </a:p>
          <a:p>
            <a:r>
              <a:rPr lang="en-US" sz="1200" dirty="0">
                <a:solidFill>
                  <a:schemeClr val="bg1"/>
                </a:solidFill>
              </a:rPr>
              <a:t>Consider special offers, bundle deals, or better in </a:t>
            </a:r>
            <a:r>
              <a:rPr lang="en-US" sz="1200" dirty="0" err="1">
                <a:solidFill>
                  <a:schemeClr val="bg1"/>
                </a:solidFill>
              </a:rPr>
              <a:t>stote</a:t>
            </a:r>
            <a:r>
              <a:rPr lang="en-US" sz="1200" dirty="0">
                <a:solidFill>
                  <a:schemeClr val="bg1"/>
                </a:solidFill>
              </a:rPr>
              <a:t> display to boost loose tea  sales.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ABBBAE9-8409-4293-8BBC-6301BEBD6079}"/>
              </a:ext>
            </a:extLst>
          </p:cNvPr>
          <p:cNvSpPr txBox="1"/>
          <p:nvPr/>
        </p:nvSpPr>
        <p:spPr>
          <a:xfrm>
            <a:off x="8241223" y="4002101"/>
            <a:ext cx="3415553" cy="5539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Growth Opportunity</a:t>
            </a:r>
          </a:p>
          <a:p>
            <a:r>
              <a:rPr lang="en-US" sz="1200" dirty="0">
                <a:solidFill>
                  <a:schemeClr val="bg1"/>
                </a:solidFill>
              </a:rPr>
              <a:t>Which product has  the highest growth potential?</a:t>
            </a:r>
            <a:endParaRPr lang="ar-EG" sz="1200" dirty="0">
              <a:solidFill>
                <a:schemeClr val="bg1"/>
              </a:solidFill>
            </a:endParaRPr>
          </a:p>
        </p:txBody>
      </p:sp>
      <p:pic>
        <p:nvPicPr>
          <p:cNvPr id="75" name="Graphic 74" descr="Lightbulb and gear">
            <a:extLst>
              <a:ext uri="{FF2B5EF4-FFF2-40B4-BE49-F238E27FC236}">
                <a16:creationId xmlns:a16="http://schemas.microsoft.com/office/drawing/2014/main" id="{2C924BD2-28DB-429A-B188-1E717A225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3884" y="5303268"/>
            <a:ext cx="510460" cy="50069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EC56933-1D1F-42A3-BDE4-A29D563BA0A2}"/>
              </a:ext>
            </a:extLst>
          </p:cNvPr>
          <p:cNvGrpSpPr/>
          <p:nvPr/>
        </p:nvGrpSpPr>
        <p:grpSpPr>
          <a:xfrm>
            <a:off x="7503230" y="3988383"/>
            <a:ext cx="605720" cy="596082"/>
            <a:chOff x="7414330" y="4007433"/>
            <a:chExt cx="605720" cy="596082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3727113-4026-41E1-B1BB-D54B1B2191F6}"/>
                </a:ext>
              </a:extLst>
            </p:cNvPr>
            <p:cNvSpPr/>
            <p:nvPr/>
          </p:nvSpPr>
          <p:spPr>
            <a:xfrm>
              <a:off x="7414330" y="4049517"/>
              <a:ext cx="605720" cy="5539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pic>
          <p:nvPicPr>
            <p:cNvPr id="77" name="Graphic 76" descr="Coffee">
              <a:extLst>
                <a:ext uri="{FF2B5EF4-FFF2-40B4-BE49-F238E27FC236}">
                  <a16:creationId xmlns:a16="http://schemas.microsoft.com/office/drawing/2014/main" id="{7455EFF0-BE3D-4995-B7A2-D98156B79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483005" y="4007433"/>
              <a:ext cx="529320" cy="529320"/>
            </a:xfrm>
            <a:prstGeom prst="rect">
              <a:avLst/>
            </a:prstGeom>
          </p:spPr>
        </p:pic>
      </p:grpSp>
      <p:pic>
        <p:nvPicPr>
          <p:cNvPr id="78" name="Graphic 77" descr="Bar graph with upward trend">
            <a:extLst>
              <a:ext uri="{FF2B5EF4-FFF2-40B4-BE49-F238E27FC236}">
                <a16:creationId xmlns:a16="http://schemas.microsoft.com/office/drawing/2014/main" id="{04123C27-00A8-4599-BAF5-3274E16F53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01723" y="4670378"/>
            <a:ext cx="403210" cy="40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791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273</Words>
  <Application>Microsoft Office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Bahnschrift</vt:lpstr>
      <vt:lpstr>Calibri</vt:lpstr>
      <vt:lpstr>Calibri Light</vt:lpstr>
      <vt:lpstr>Noto Serif Armenian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XPs</dc:creator>
  <cp:lastModifiedBy>XPs</cp:lastModifiedBy>
  <cp:revision>27</cp:revision>
  <dcterms:created xsi:type="dcterms:W3CDTF">2026-08-27T11:52:44Z</dcterms:created>
  <dcterms:modified xsi:type="dcterms:W3CDTF">2026-09-14T13:22:15Z</dcterms:modified>
</cp:coreProperties>
</file>